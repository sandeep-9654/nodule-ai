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Nodule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Volumetric CT Scan Analysis for Lung Nodule Detection</a:t>
            </a:r>
          </a:p>
          <a:p/>
          <a:p>
            <a:r>
              <a:t>Team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Lung cancer is one of the leading causes of cancer-related mortality worldwide.</a:t>
            </a:r>
          </a:p>
          <a:p>
            <a:pPr/>
            <a:r>
              <a:t>Early detection of pulmonary nodules significantly increases survival rates.</a:t>
            </a:r>
          </a:p>
          <a:p>
            <a:pPr/>
            <a:r>
              <a:t>Computed Tomography (CT) scans are the standard imaging modality for screening.</a:t>
            </a:r>
          </a:p>
          <a:p>
            <a:pPr/>
            <a:r>
              <a:t>Manual inspection of volumetric CT scans is time-consuming and prone to human error.</a:t>
            </a:r>
          </a:p>
          <a:p>
            <a:pPr/>
            <a:r>
              <a:t>Nodule AI provides an automated, AI-driven solution to assist radiologists in detecting and classifying lung nodules.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imbalance in medical datasets often leads to biased AI models.</a:t>
            </a:r>
          </a:p>
          <a:p>
            <a:pPr/>
            <a:r>
              <a:t>High computational costs associated with processing full 3D isotropic medical volumes.</a:t>
            </a:r>
          </a:p>
          <a:p>
            <a:pPr/>
            <a:r>
              <a:t>Legacy datasets (e.g., LUNA-16) often cause severe hardware exhaustion during local training.</a:t>
            </a:r>
          </a:p>
          <a:p>
            <a:pPr/>
            <a:r>
              <a:t>Lack of interactive, explainable, and visually intuitive 3D visualization for clinicians.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Computer-Aided Diagnosis (CAD) Systems:</a:t>
            </a:r>
          </a:p>
          <a:p>
            <a:pPr/>
            <a:r>
              <a:t> • Rely heavily on hand-crafted features (shape, texture, intensity).</a:t>
            </a:r>
          </a:p>
          <a:p>
            <a:pPr/>
            <a:r>
              <a:t> • High false-positive rates and brittle generalization to new data.</a:t>
            </a:r>
          </a:p>
          <a:p>
            <a:pPr/>
            <a:r>
              <a:t>Standard Full-Scale 3D CNNs:</a:t>
            </a:r>
          </a:p>
          <a:p>
            <a:pPr/>
            <a:r>
              <a:t> • Demand massive GPU memory (VRAM).</a:t>
            </a:r>
          </a:p>
          <a:p>
            <a:pPr/>
            <a:r>
              <a:t> • Difficult to deploy in localized or resource-constrained hospital environments.</a:t>
            </a:r>
          </a:p>
          <a:p>
            <a:pPr/>
            <a:r>
              <a:t>Manual Review by Radiologists:</a:t>
            </a:r>
          </a:p>
          <a:p>
            <a:pPr/>
            <a:r>
              <a:t> • Slice-by-slice 2D inspection of a 3D scan is cognitively taxing.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Nodule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Migrated to the pre-extracted, balanced LUNA-22 (ISMI) 3D Patches dataset to solve class imbalance.</a:t>
            </a:r>
          </a:p>
          <a:p>
            <a:pPr/>
            <a:r>
              <a:t>Developed a deeply optimized Lightweight U-Net 3D model utilizing Depthwise Separable Convolutions.</a:t>
            </a:r>
          </a:p>
          <a:p>
            <a:pPr/>
            <a:r>
              <a:t>Reduced parameter count to ~155K (&lt; 1 MB footprint) while preserving spatial context.</a:t>
            </a:r>
          </a:p>
          <a:p>
            <a:pPr/>
            <a:r>
              <a:t>A full-stack web application (Next.js + Flask) providing real-time 3D rendering and clinical reasoning.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real-time, highly accurate 3D lung nodule classification (Benign vs. Malignant).</a:t>
            </a:r>
          </a:p>
          <a:p>
            <a:pPr/>
            <a:r>
              <a:t>Ensure the architecture is lightweight enough to run inference on edge devices/CPUs.</a:t>
            </a:r>
          </a:p>
          <a:p>
            <a:pPr/>
            <a:r>
              <a:t>Deliver a visually stunning, CT-authentic 3D interface for radiologists.</a:t>
            </a:r>
          </a:p>
          <a:p>
            <a:pPr/>
            <a:r>
              <a:t>Generate rich clinical descriptions detailing nodule size, texture, and recommended clinical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LUNA-22 (ISMI) dataset containing 1,176 pre-extracted 3D patches.</a:t>
            </a:r>
          </a:p>
          <a:p>
            <a:pPr/>
            <a:r>
              <a:t>Data Format: Medical '.nii.gz' volumetric arrays.</a:t>
            </a:r>
          </a:p>
          <a:p>
            <a:pPr/>
            <a:r>
              <a:t>Preprocessing Steps:</a:t>
            </a:r>
          </a:p>
          <a:p>
            <a:pPr/>
            <a:r>
              <a:t> • Voxel Intensity Normalization to a mapped [0, 1] scale.</a:t>
            </a:r>
          </a:p>
          <a:p>
            <a:pPr/>
            <a:r>
              <a:t> • Spatial Resampling &amp; Trilinear Interpolation to a standardized (64×64×32) dimension.</a:t>
            </a:r>
          </a:p>
          <a:p>
            <a:pPr/>
            <a:r>
              <a:t> • Automated data-discovery during cloud training to flexibly locate dataset artifacts.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Feasibility:</a:t>
            </a:r>
          </a:p>
          <a:p>
            <a:pPr/>
            <a:r>
              <a:t> • Built on robust open-source stacks: PyTorch, Flask, Next.js, and Three.js.</a:t>
            </a:r>
          </a:p>
          <a:p>
            <a:pPr/>
            <a:r>
              <a:t> • Lightweight models eliminate the need for enterprise-grade hospital GPUs for inference.</a:t>
            </a:r>
          </a:p>
          <a:p>
            <a:pPr/>
            <a:r>
              <a:t>Operational Feasibility:</a:t>
            </a:r>
          </a:p>
          <a:p>
            <a:pPr/>
            <a:r>
              <a:t> • Web-browser deployment requires zero installation for clinicians.</a:t>
            </a:r>
          </a:p>
          <a:p>
            <a:pPr/>
            <a:r>
              <a:t>Economic Feasibility:</a:t>
            </a:r>
          </a:p>
          <a:p>
            <a:pPr/>
            <a:r>
              <a:t> • Utilizes free tier cloud environments (Kaggle) for heavy compute (training).</a:t>
            </a:r>
          </a:p>
          <a:p>
            <a:pPr/>
            <a:r>
              <a:t> • Local inference is practically free, running efficiently on consumer hardware.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Incremental &amp; Iterative Development Model:</a:t>
            </a:r>
          </a:p>
          <a:p>
            <a:pPr/>
            <a:r>
              <a:t> • Phase 1: Environment Setup &amp; Legacy Code Purge.</a:t>
            </a:r>
          </a:p>
          <a:p>
            <a:pPr/>
            <a:r>
              <a:t> • Phase 2: Neural Architecture Redesign (Lightweight U-Net 3D).</a:t>
            </a:r>
          </a:p>
          <a:p>
            <a:pPr/>
            <a:r>
              <a:t> • Phase 3: Backend API Refactoring (Raw Sigmoid + Mesh Extraction).</a:t>
            </a:r>
          </a:p>
          <a:p>
            <a:pPr/>
            <a:r>
              <a:t> • Phase 4: Cloud Training Pipeline Generation (Combined Loss, AMP).</a:t>
            </a:r>
          </a:p>
          <a:p>
            <a:pPr/>
            <a:r>
              <a:t> • Phase 5: UI/UX Aesthetic and 3D Visualizer enhancements.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Client Layer (Next.js &amp; Tailwind CSS):</a:t>
            </a:r>
          </a:p>
          <a:p>
            <a:pPr/>
            <a:r>
              <a:t>   • Handles user `.npy` uploads and highly responsive layout.</a:t>
            </a:r>
          </a:p>
          <a:p>
            <a:pPr/>
            <a:r>
              <a:t>2. Visualization Layer (Three.js &amp; React-Three-Fiber):</a:t>
            </a:r>
          </a:p>
          <a:p>
            <a:pPr/>
            <a:r>
              <a:t>   • Procedural rendering of CT-style lung shapes and localized glowing nodules.</a:t>
            </a:r>
          </a:p>
          <a:p>
            <a:pPr/>
            <a:r>
              <a:t>3. API Gateway (Flask RESTful API):</a:t>
            </a:r>
          </a:p>
          <a:p>
            <a:pPr/>
            <a:r>
              <a:t>   • Handles preprocessing, inference requests, and 3D mesh marching-cubes generation.</a:t>
            </a:r>
          </a:p>
          <a:p>
            <a:pPr/>
            <a:r>
              <a:t>4. Deep Learning Engine (PyTorch):</a:t>
            </a:r>
          </a:p>
          <a:p>
            <a:pPr/>
            <a:r>
              <a:t>   • Executes the rapid forward-pass on the frozen Lightweight U-Net 3D graph.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1 - Purging Legacy Bloat: Removed heavyweight UNet (90MB) and brittle hardcoded loops.</a:t>
            </a:r>
          </a:p>
          <a:p>
            <a:pPr/>
            <a:r>
              <a:t>Phase 2 - Architecture Rebuild: Enforced strict Encoder/Decoder block hierarchies.</a:t>
            </a:r>
          </a:p>
          <a:p>
            <a:pPr/>
            <a:r>
              <a:t>Phase 3 - Inference Engine Optimization: Removed synthetic predictions and piecewise probability curves.</a:t>
            </a:r>
          </a:p>
          <a:p>
            <a:pPr/>
            <a:r>
              <a:t>Phase 4 - Cloud Training Ready: Scripted Kaggle execution loops utilizing mixed precision (AMP) and safe Dice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Model: Lightweight U-Net 3D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U-Net?</a:t>
            </a:r>
          </a:p>
          <a:p>
            <a:pPr/>
            <a:r>
              <a:t> • The U-shape architecture excels in medical imaging by concatenating deep semantic features with shallow spatial features via skip connections.</a:t>
            </a:r>
          </a:p>
          <a:p>
            <a:pPr/>
            <a:r>
              <a:t>Why Lightweight?</a:t>
            </a:r>
          </a:p>
          <a:p>
            <a:pPr/>
            <a:r>
              <a:t> • Standard 3D convolutions require massive FLOPs.</a:t>
            </a:r>
          </a:p>
          <a:p>
            <a:pPr/>
            <a:r>
              <a:t> • Nodule AI utilizes Depthwise Separable 3D Convolutions, cutting computations drastically.</a:t>
            </a:r>
          </a:p>
          <a:p>
            <a:pPr/>
            <a:r>
              <a:t> • Final model size is ~0.59 MB (154,812 parameters).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Function used: Combined Loss (BCEWithLogitsLoss + Soft Dice Loss).</a:t>
            </a:r>
          </a:p>
          <a:p>
            <a:pPr/>
            <a:r>
              <a:t> • Ensures high pixel-level accuracy while fighting any remaining class imbalances.</a:t>
            </a:r>
          </a:p>
          <a:p>
            <a:pPr/>
            <a:r>
              <a:t>Optimizer: AdamW with Cosine Annealing Learning Rate Scheduler.</a:t>
            </a:r>
          </a:p>
          <a:p>
            <a:pPr/>
            <a:r>
              <a:t>Bias Trick Activation:</a:t>
            </a:r>
          </a:p>
          <a:p>
            <a:pPr/>
            <a:r>
              <a:t> • Final layer bias is initialized heavily negative (-5.0) to prevent early training explosive gradients.</a:t>
            </a:r>
          </a:p>
          <a:p>
            <a:pPr/>
            <a:r>
              <a:t>Hardware Acceleration: Automated Mixed Precision (AMP) allowing faster training on Kaggle GPUs.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3D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using Three.js and React-Three-Fiber.</a:t>
            </a:r>
          </a:p>
          <a:p>
            <a:pPr/>
            <a:r>
              <a:t>Procedural anatomical generation:</a:t>
            </a:r>
          </a:p>
          <a:p>
            <a:pPr/>
            <a:r>
              <a:t> • Calculates tapered asymmetric lobes with mediastinal concavities mimicking real lung geometries.</a:t>
            </a:r>
          </a:p>
          <a:p>
            <a:pPr/>
            <a:r>
              <a:t>CT-Scan Aesthetics:</a:t>
            </a:r>
          </a:p>
          <a:p>
            <a:pPr/>
            <a:r>
              <a:t> • Opaque, semi-translucent soft-tissue rendering.</a:t>
            </a:r>
          </a:p>
          <a:p>
            <a:pPr/>
            <a:r>
              <a:t> • Dynamic nodule positioning and internal emissive lighting directly correlating to malignancy.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- Overall correct benign vs. malignant classifications.</a:t>
            </a:r>
          </a:p>
          <a:p>
            <a:pPr/>
            <a:r>
              <a:t>Precision - Reduction of false positives (unnecessary biopsies).</a:t>
            </a:r>
          </a:p>
          <a:p>
            <a:pPr/>
            <a:r>
              <a:t>Recall (Sensitivity) - Ensuring malignant nodules are not missed.</a:t>
            </a:r>
          </a:p>
          <a:p>
            <a:pPr/>
            <a:r>
              <a:t>F1-Score - Harmonic balance of Precision and Recall.</a:t>
            </a:r>
          </a:p>
          <a:p>
            <a:pPr/>
            <a:r>
              <a:t>Safe Dice Coefficient - Specialized metric tracking the spatial overlap effectiveness without crashing on empty frames.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Ultra-Fast Inference: Processing 3D volumes in milliseconds on consumer CPUs.</a:t>
            </a:r>
          </a:p>
          <a:p>
            <a:pPr/>
            <a:r>
              <a:t>Clinician-Friendly UX: The dark-mode interface and 3D volume viewer drastically reduces radiologist eye strain and cognitive load.</a:t>
            </a:r>
          </a:p>
          <a:p>
            <a:pPr/>
            <a:r>
              <a:t>Scalability: Stateless API architecture allows effortless Docker containerization and cloud scaling.</a:t>
            </a:r>
          </a:p>
          <a:p>
            <a:pPr/>
            <a:r>
              <a:t>Explainable Outputs: Generates verbose clinical descriptions analyzing size, margin texture, and recommending follow-up protocols.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Triage Systems in overcrowded radiology departments.</a:t>
            </a:r>
          </a:p>
          <a:p>
            <a:pPr/>
            <a:r>
              <a:t>Second-reader (Concurrent read) to back up primary physicians.</a:t>
            </a:r>
          </a:p>
          <a:p>
            <a:pPr/>
            <a:r>
              <a:t>Medical education tool to visually demonstrate nodule characteristics to students.</a:t>
            </a:r>
          </a:p>
          <a:p>
            <a:pPr/>
            <a:r>
              <a:t>Rural Health Deployment where expert oncologists are not immediately available.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Significantly lower screening turnaround time (TAT).</a:t>
            </a:r>
          </a:p>
          <a:p>
            <a:pPr/>
            <a:r>
              <a:t>Reduction in false negative rates due to fatigue in manual radiologist screening.</a:t>
            </a:r>
          </a:p>
          <a:p>
            <a:pPr/>
            <a:r>
              <a:t>Democratized access to state-of-the-art volumetric AI analysis via browser.</a:t>
            </a:r>
          </a:p>
          <a:p>
            <a:pPr/>
            <a:r>
              <a:t>Enhanced patient outcomes due to earlier, more accurate detection.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Nodule AI bridges the gap between complex 3D deep learning models and practical clinical deployment.</a:t>
            </a:r>
          </a:p>
          <a:p>
            <a:pPr/>
            <a:r>
              <a:t>By optimizing a Lightweight U-Net 3D and embedding it in a visually rich, zero-install web application, we have created a robust tool for pulmonary analysis.</a:t>
            </a:r>
          </a:p>
          <a:p>
            <a:pPr/>
            <a:r>
              <a:t>The system is scalable, fast, and represents a significant step towards intelligent, automated medical diagnosis.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